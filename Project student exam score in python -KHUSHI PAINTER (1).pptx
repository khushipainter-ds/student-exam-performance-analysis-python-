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Caveat"/>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an6WdU24WFHMxvtVagFfxTiRu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aveat-regular.fntdata"/><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Caveat-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11a018f52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411a018f5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5183188" y="987425"/>
            <a:ext cx="6172200" cy="4873625"/>
          </a:xfrm>
          <a:prstGeom prst="rect">
            <a:avLst/>
          </a:prstGeom>
          <a:noFill/>
          <a:ln>
            <a:noFill/>
          </a:ln>
        </p:spPr>
      </p:sp>
      <p:sp>
        <p:nvSpPr>
          <p:cNvPr id="64" name="Google Shape;64;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85" name="Google Shape;85;p1"/>
          <p:cNvSpPr/>
          <p:nvPr/>
        </p:nvSpPr>
        <p:spPr>
          <a:xfrm>
            <a:off x="1112225" y="881425"/>
            <a:ext cx="8568300" cy="48939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a:p>
            <a:pPr indent="0" lvl="0" marL="0" marR="0" rtl="0" algn="ctr">
              <a:spcBef>
                <a:spcPts val="0"/>
              </a:spcBef>
              <a:spcAft>
                <a:spcPts val="0"/>
              </a:spcAft>
              <a:buNone/>
            </a:pPr>
            <a:r>
              <a:rPr b="1" i="1" lang="en-US" sz="4000">
                <a:solidFill>
                  <a:schemeClr val="dk1"/>
                </a:solidFill>
                <a:latin typeface="Calibri"/>
                <a:ea typeface="Calibri"/>
                <a:cs typeface="Calibri"/>
                <a:sym typeface="Calibri"/>
              </a:rPr>
              <a:t>Student Exam Performance Analysis</a:t>
            </a:r>
            <a:endParaRPr b="1" i="1" sz="4000">
              <a:solidFill>
                <a:schemeClr val="dk1"/>
              </a:solidFill>
              <a:latin typeface="Calibri"/>
              <a:ea typeface="Calibri"/>
              <a:cs typeface="Calibri"/>
              <a:sym typeface="Calibri"/>
            </a:endParaRPr>
          </a:p>
          <a:p>
            <a:pPr indent="0" lvl="0" marL="0" marR="0" rtl="0" algn="ctr">
              <a:spcBef>
                <a:spcPts val="0"/>
              </a:spcBef>
              <a:spcAft>
                <a:spcPts val="0"/>
              </a:spcAft>
              <a:buNone/>
            </a:pPr>
            <a:r>
              <a:rPr lang="en-US" sz="3400">
                <a:solidFill>
                  <a:schemeClr val="dk1"/>
                </a:solidFill>
                <a:latin typeface="Caveat"/>
                <a:ea typeface="Caveat"/>
                <a:cs typeface="Caveat"/>
                <a:sym typeface="Caveat"/>
              </a:rPr>
              <a:t>Factors Affecting Student Scores</a:t>
            </a:r>
            <a:endParaRPr sz="3400">
              <a:solidFill>
                <a:schemeClr val="dk1"/>
              </a:solidFill>
              <a:latin typeface="Caveat"/>
              <a:ea typeface="Caveat"/>
              <a:cs typeface="Caveat"/>
              <a:sym typeface="Caveat"/>
            </a:endParaRPr>
          </a:p>
        </p:txBody>
      </p:sp>
      <p:sp>
        <p:nvSpPr>
          <p:cNvPr id="86" name="Google Shape;86;p1"/>
          <p:cNvSpPr/>
          <p:nvPr/>
        </p:nvSpPr>
        <p:spPr>
          <a:xfrm>
            <a:off x="9764400" y="5499025"/>
            <a:ext cx="2247000" cy="12879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900" u="none" cap="none" strike="noStrike">
                <a:solidFill>
                  <a:srgbClr val="2F5496"/>
                </a:solidFill>
                <a:latin typeface="Calibri"/>
                <a:ea typeface="Calibri"/>
                <a:cs typeface="Calibri"/>
                <a:sym typeface="Calibri"/>
              </a:rPr>
              <a:t>By-</a:t>
            </a:r>
            <a:r>
              <a:rPr b="0" i="0" lang="en-US" sz="1900" u="none" cap="none" strike="noStrike">
                <a:solidFill>
                  <a:schemeClr val="dk1"/>
                </a:solidFill>
                <a:latin typeface="Calibri"/>
                <a:ea typeface="Calibri"/>
                <a:cs typeface="Calibri"/>
                <a:sym typeface="Calibri"/>
              </a:rPr>
              <a:t> </a:t>
            </a:r>
            <a:r>
              <a:rPr b="0" i="0" lang="en-US" sz="1900" u="none" cap="none" strike="noStrike">
                <a:solidFill>
                  <a:srgbClr val="2F5496"/>
                </a:solidFill>
                <a:latin typeface="Calibri"/>
                <a:ea typeface="Calibri"/>
                <a:cs typeface="Calibri"/>
                <a:sym typeface="Calibri"/>
              </a:rPr>
              <a:t>KHUSHI PAINTER</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1278194" y="-7874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Introduction:</a:t>
            </a:r>
            <a:endParaRPr/>
          </a:p>
        </p:txBody>
      </p:sp>
      <p:pic>
        <p:nvPicPr>
          <p:cNvPr id="92" name="Google Shape;92;p2"/>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93" name="Google Shape;93;p2"/>
          <p:cNvSpPr txBox="1"/>
          <p:nvPr>
            <p:ph idx="1" type="subTitle"/>
          </p:nvPr>
        </p:nvSpPr>
        <p:spPr>
          <a:xfrm>
            <a:off x="1258527" y="2028876"/>
            <a:ext cx="9026015" cy="256278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This project focuses on analyzing the performance of students in Math, Reading, and Writing, based on various demographic and background factors. The dataset includes key attributes such as gender, ethnic group, parental education, and test preparation, along with student scores in these subjects. The goal is to identify trends and patterns that influence student outcomes.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ctrTitle"/>
          </p:nvPr>
        </p:nvSpPr>
        <p:spPr>
          <a:xfrm>
            <a:off x="-1238865" y="-786581"/>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Data Source:</a:t>
            </a:r>
            <a:endParaRPr/>
          </a:p>
        </p:txBody>
      </p:sp>
      <p:pic>
        <p:nvPicPr>
          <p:cNvPr id="99" name="Google Shape;99;p3"/>
          <p:cNvPicPr preferRelativeResize="0"/>
          <p:nvPr/>
        </p:nvPicPr>
        <p:blipFill rotWithShape="1">
          <a:blip r:embed="rId3">
            <a:alphaModFix/>
          </a:blip>
          <a:srcRect b="0" l="0" r="0" t="0"/>
          <a:stretch/>
        </p:blipFill>
        <p:spPr>
          <a:xfrm>
            <a:off x="8219457" y="9832"/>
            <a:ext cx="3972543" cy="2644877"/>
          </a:xfrm>
          <a:prstGeom prst="rect">
            <a:avLst/>
          </a:prstGeom>
          <a:noFill/>
          <a:ln>
            <a:noFill/>
          </a:ln>
        </p:spPr>
      </p:pic>
      <p:sp>
        <p:nvSpPr>
          <p:cNvPr id="100" name="Google Shape;100;p3"/>
          <p:cNvSpPr txBox="1"/>
          <p:nvPr>
            <p:ph idx="1" type="subTitle"/>
          </p:nvPr>
        </p:nvSpPr>
        <p:spPr>
          <a:xfrm>
            <a:off x="1327355" y="1910889"/>
            <a:ext cx="9222658" cy="179587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We will use available datasets from Kaggle.com , which include information on Gender, Ethnic Group, Parent Education, LunchType, Test Preparation, Parent Marital Status, Practice Sport, IsFirstChild, NrSiblings, Transport Means, Weekly Study Hours, Math Score, Reading Score, Writing Score.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About Project:</a:t>
            </a:r>
            <a:endParaRPr/>
          </a:p>
        </p:txBody>
      </p:sp>
      <p:pic>
        <p:nvPicPr>
          <p:cNvPr id="106" name="Google Shape;106;p4"/>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07" name="Google Shape;107;p4"/>
          <p:cNvSpPr txBox="1"/>
          <p:nvPr>
            <p:ph idx="1" type="body"/>
          </p:nvPr>
        </p:nvSpPr>
        <p:spPr>
          <a:xfrm>
            <a:off x="1257300" y="1690688"/>
            <a:ext cx="9233719" cy="440531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The primary aim of this project is to explore and understand the relationships between different demographic and educational factors and student exam scores in Math, Reading, and Writing. The project seeks to identify patterns and trends that can inform strategies for enhancing student performance.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Objectives:</a:t>
            </a:r>
            <a:endParaRPr sz="6000"/>
          </a:p>
        </p:txBody>
      </p:sp>
      <p:pic>
        <p:nvPicPr>
          <p:cNvPr id="113" name="Google Shape;113;p5"/>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14" name="Google Shape;114;p5"/>
          <p:cNvSpPr txBox="1"/>
          <p:nvPr>
            <p:ph idx="1" type="body"/>
          </p:nvPr>
        </p:nvSpPr>
        <p:spPr>
          <a:xfrm>
            <a:off x="1211826" y="1690688"/>
            <a:ext cx="10380406" cy="404423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To analyze the distribution of scores across Math, Reading, and Writing.</a:t>
            </a:r>
            <a:endParaRPr/>
          </a:p>
          <a:p>
            <a:pPr indent="-228600" lvl="0" marL="228600" rtl="0" algn="l">
              <a:lnSpc>
                <a:spcPct val="90000"/>
              </a:lnSpc>
              <a:spcBef>
                <a:spcPts val="1000"/>
              </a:spcBef>
              <a:spcAft>
                <a:spcPts val="0"/>
              </a:spcAft>
              <a:buClr>
                <a:schemeClr val="dk1"/>
              </a:buClr>
              <a:buSzPts val="2400"/>
              <a:buChar char="•"/>
            </a:pPr>
            <a:r>
              <a:rPr lang="en-US" sz="2400"/>
              <a:t>To compare student performance based on gender and other demographic factors.</a:t>
            </a:r>
            <a:endParaRPr/>
          </a:p>
          <a:p>
            <a:pPr indent="-228600" lvl="0" marL="228600" rtl="0" algn="l">
              <a:lnSpc>
                <a:spcPct val="90000"/>
              </a:lnSpc>
              <a:spcBef>
                <a:spcPts val="1000"/>
              </a:spcBef>
              <a:spcAft>
                <a:spcPts val="0"/>
              </a:spcAft>
              <a:buClr>
                <a:schemeClr val="dk1"/>
              </a:buClr>
              <a:buSzPts val="2400"/>
              <a:buChar char="•"/>
            </a:pPr>
            <a:r>
              <a:rPr lang="en-US" sz="2400"/>
              <a:t>To explore the relationship between weekly study hours and academic performance.</a:t>
            </a:r>
            <a:endParaRPr/>
          </a:p>
          <a:p>
            <a:pPr indent="-228600" lvl="0" marL="228600" rtl="0" algn="l">
              <a:lnSpc>
                <a:spcPct val="90000"/>
              </a:lnSpc>
              <a:spcBef>
                <a:spcPts val="1000"/>
              </a:spcBef>
              <a:spcAft>
                <a:spcPts val="0"/>
              </a:spcAft>
              <a:buClr>
                <a:schemeClr val="dk1"/>
              </a:buClr>
              <a:buSzPts val="2400"/>
              <a:buChar char="•"/>
            </a:pPr>
            <a:r>
              <a:rPr lang="en-US" sz="2400"/>
              <a:t>To examine the impact of parental education, test preparation, and other background factors on student performance.</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658109" y="110218"/>
            <a:ext cx="10515600" cy="14243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Dataset Description:</a:t>
            </a:r>
            <a:endParaRPr/>
          </a:p>
        </p:txBody>
      </p:sp>
      <p:pic>
        <p:nvPicPr>
          <p:cNvPr id="120" name="Google Shape;120;p6"/>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21" name="Google Shape;121;p6"/>
          <p:cNvSpPr txBox="1"/>
          <p:nvPr>
            <p:ph idx="1" type="body"/>
          </p:nvPr>
        </p:nvSpPr>
        <p:spPr>
          <a:xfrm>
            <a:off x="1174955" y="1322438"/>
            <a:ext cx="10672264" cy="509802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sz="1800"/>
              <a:t>The dataset includes the following columns:</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Gender:</a:t>
            </a:r>
            <a:r>
              <a:rPr lang="en-US" sz="1800"/>
              <a:t> Male or Female.</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Ethnic Group:</a:t>
            </a:r>
            <a:r>
              <a:rPr lang="en-US" sz="1800"/>
              <a:t> Student's ethnic group.</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Parent Education:</a:t>
            </a:r>
            <a:r>
              <a:rPr lang="en-US" sz="1800"/>
              <a:t> Highest education level of the student's parents.</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LunchType:</a:t>
            </a:r>
            <a:r>
              <a:rPr lang="en-US" sz="1800"/>
              <a:t> Type of lunch received (standard or free/reduced).</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Test Preparation:</a:t>
            </a:r>
            <a:r>
              <a:rPr lang="en-US" sz="1800"/>
              <a:t> Completion of a test preparation course (Complete/None).</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Parent Marital Status:</a:t>
            </a:r>
            <a:r>
              <a:rPr lang="en-US" sz="1800"/>
              <a:t> Marital status of the student's parents (e.g., married, divorced).</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Practice Sport:</a:t>
            </a:r>
            <a:r>
              <a:rPr lang="en-US" sz="1800"/>
              <a:t> Whether the student practices a sport (Yes/No).</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IsFirstChild:</a:t>
            </a:r>
            <a:r>
              <a:rPr lang="en-US" sz="1800"/>
              <a:t> Indicates if the student is the first-born child (Yes/No).</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NrSiblings:</a:t>
            </a:r>
            <a:r>
              <a:rPr lang="en-US" sz="1800"/>
              <a:t> Number of siblings the student has.</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Transport Means:</a:t>
            </a:r>
            <a:r>
              <a:rPr lang="en-US" sz="1800"/>
              <a:t> Student's mode of transport to school.</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Weekly Study Hours:</a:t>
            </a:r>
            <a:r>
              <a:rPr lang="en-US" sz="1800"/>
              <a:t> Number of study hours per week.</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Math Score:</a:t>
            </a:r>
            <a:r>
              <a:rPr lang="en-US" sz="1800"/>
              <a:t> Score in Math.</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Reading Score:</a:t>
            </a:r>
            <a:r>
              <a:rPr lang="en-US" sz="1800"/>
              <a:t> Score in Reading.</a:t>
            </a:r>
            <a:endParaRPr/>
          </a:p>
          <a:p>
            <a:pPr indent="-228600" lvl="0" marL="228600" rtl="0" algn="l">
              <a:lnSpc>
                <a:spcPct val="90000"/>
              </a:lnSpc>
              <a:spcBef>
                <a:spcPts val="1000"/>
              </a:spcBef>
              <a:spcAft>
                <a:spcPts val="0"/>
              </a:spcAft>
              <a:buClr>
                <a:schemeClr val="dk1"/>
              </a:buClr>
              <a:buSzPct val="100000"/>
              <a:buFont typeface="Arial"/>
              <a:buChar char="•"/>
            </a:pPr>
            <a:r>
              <a:rPr b="1" lang="en-US" sz="1800"/>
              <a:t>Writing Score:</a:t>
            </a:r>
            <a:r>
              <a:rPr lang="en-US" sz="1800"/>
              <a:t> Score in Writing.</a:t>
            </a:r>
            <a:endParaRPr/>
          </a:p>
          <a:p>
            <a:pPr indent="0" lvl="0" marL="0" rtl="0" algn="l">
              <a:lnSpc>
                <a:spcPct val="90000"/>
              </a:lnSpc>
              <a:spcBef>
                <a:spcPts val="1000"/>
              </a:spcBef>
              <a:spcAft>
                <a:spcPts val="0"/>
              </a:spcAft>
              <a:buClr>
                <a:schemeClr val="dk1"/>
              </a:buClr>
              <a:buSzPct val="100000"/>
              <a:buNone/>
            </a:pPr>
            <a:r>
              <a:t/>
            </a:r>
            <a:endParaRPr/>
          </a:p>
        </p:txBody>
      </p:sp>
      <p:sp>
        <p:nvSpPr>
          <p:cNvPr id="122" name="Google Shape;122;p6"/>
          <p:cNvSpPr/>
          <p:nvPr/>
        </p:nvSpPr>
        <p:spPr>
          <a:xfrm>
            <a:off x="0" y="-323165"/>
            <a:ext cx="264816"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7"/>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28" name="Google Shape;12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5700"/>
              <a:t>Tools and Technologies Used:</a:t>
            </a:r>
            <a:endParaRPr sz="5700"/>
          </a:p>
        </p:txBody>
      </p:sp>
      <p:sp>
        <p:nvSpPr>
          <p:cNvPr id="129" name="Google Shape;129;p7"/>
          <p:cNvSpPr txBox="1"/>
          <p:nvPr>
            <p:ph idx="1" type="body"/>
          </p:nvPr>
        </p:nvSpPr>
        <p:spPr>
          <a:xfrm>
            <a:off x="1437968" y="1789011"/>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Python: </a:t>
            </a:r>
            <a:r>
              <a:rPr lang="en-US" sz="2400"/>
              <a:t>Used for data analysis and visualization.</a:t>
            </a:r>
            <a:endParaRPr/>
          </a:p>
          <a:p>
            <a:pPr indent="-228600" lvl="0" marL="228600" rtl="0" algn="l">
              <a:lnSpc>
                <a:spcPct val="90000"/>
              </a:lnSpc>
              <a:spcBef>
                <a:spcPts val="1000"/>
              </a:spcBef>
              <a:spcAft>
                <a:spcPts val="0"/>
              </a:spcAft>
              <a:buClr>
                <a:schemeClr val="dk1"/>
              </a:buClr>
              <a:buSzPts val="2800"/>
              <a:buChar char="•"/>
            </a:pPr>
            <a:r>
              <a:rPr b="1" lang="en-US"/>
              <a:t>Pandas: </a:t>
            </a:r>
            <a:r>
              <a:rPr lang="en-US" sz="2400"/>
              <a:t>For data manipulation and analysis.</a:t>
            </a:r>
            <a:endParaRPr/>
          </a:p>
          <a:p>
            <a:pPr indent="-228600" lvl="0" marL="228600" rtl="0" algn="l">
              <a:lnSpc>
                <a:spcPct val="90000"/>
              </a:lnSpc>
              <a:spcBef>
                <a:spcPts val="1000"/>
              </a:spcBef>
              <a:spcAft>
                <a:spcPts val="0"/>
              </a:spcAft>
              <a:buClr>
                <a:schemeClr val="dk1"/>
              </a:buClr>
              <a:buSzPts val="2800"/>
              <a:buChar char="•"/>
            </a:pPr>
            <a:r>
              <a:rPr b="1" lang="en-US"/>
              <a:t>Seaborn/Matplotlib: </a:t>
            </a:r>
            <a:r>
              <a:rPr lang="en-US" sz="2400"/>
              <a:t>To create visualizations.</a:t>
            </a:r>
            <a:endParaRPr/>
          </a:p>
          <a:p>
            <a:pPr indent="-228600" lvl="0" marL="228600" rtl="0" algn="l">
              <a:lnSpc>
                <a:spcPct val="90000"/>
              </a:lnSpc>
              <a:spcBef>
                <a:spcPts val="1000"/>
              </a:spcBef>
              <a:spcAft>
                <a:spcPts val="0"/>
              </a:spcAft>
              <a:buClr>
                <a:schemeClr val="dk1"/>
              </a:buClr>
              <a:buSzPts val="2800"/>
              <a:buChar char="•"/>
            </a:pPr>
            <a:r>
              <a:rPr b="1" lang="en-US"/>
              <a:t>PowerPoint: </a:t>
            </a:r>
            <a:r>
              <a:rPr lang="en-US" sz="2400"/>
              <a:t>For presenting the findings.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type="title"/>
          </p:nvPr>
        </p:nvSpPr>
        <p:spPr>
          <a:xfrm>
            <a:off x="838200" y="26680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General Questions:</a:t>
            </a:r>
            <a:endParaRPr sz="6000"/>
          </a:p>
        </p:txBody>
      </p:sp>
      <p:pic>
        <p:nvPicPr>
          <p:cNvPr id="135" name="Google Shape;135;p8"/>
          <p:cNvPicPr preferRelativeResize="0"/>
          <p:nvPr/>
        </p:nvPicPr>
        <p:blipFill rotWithShape="1">
          <a:blip r:embed="rId3">
            <a:alphaModFix/>
          </a:blip>
          <a:srcRect b="0" l="0" r="0" t="0"/>
          <a:stretch/>
        </p:blipFill>
        <p:spPr>
          <a:xfrm>
            <a:off x="8219457" y="-9832"/>
            <a:ext cx="3972543" cy="2644877"/>
          </a:xfrm>
          <a:prstGeom prst="rect">
            <a:avLst/>
          </a:prstGeom>
          <a:noFill/>
          <a:ln>
            <a:noFill/>
          </a:ln>
        </p:spPr>
      </p:pic>
      <p:sp>
        <p:nvSpPr>
          <p:cNvPr id="136" name="Google Shape;136;p8"/>
          <p:cNvSpPr txBox="1"/>
          <p:nvPr>
            <p:ph idx="1" type="body"/>
          </p:nvPr>
        </p:nvSpPr>
        <p:spPr>
          <a:xfrm>
            <a:off x="1280652" y="1690687"/>
            <a:ext cx="10515600" cy="444464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Does gender affect exam performance?</a:t>
            </a:r>
            <a:endParaRPr/>
          </a:p>
          <a:p>
            <a:pPr indent="-228600" lvl="0" marL="228600" rtl="0" algn="l">
              <a:lnSpc>
                <a:spcPct val="90000"/>
              </a:lnSpc>
              <a:spcBef>
                <a:spcPts val="1000"/>
              </a:spcBef>
              <a:spcAft>
                <a:spcPts val="0"/>
              </a:spcAft>
              <a:buClr>
                <a:schemeClr val="dk1"/>
              </a:buClr>
              <a:buSzPts val="2400"/>
              <a:buChar char="•"/>
            </a:pPr>
            <a:r>
              <a:rPr lang="en-US" sz="2400"/>
              <a:t>How does parental education level impact student performance?</a:t>
            </a:r>
            <a:endParaRPr/>
          </a:p>
          <a:p>
            <a:pPr indent="-228600" lvl="0" marL="228600" rtl="0" algn="l">
              <a:lnSpc>
                <a:spcPct val="90000"/>
              </a:lnSpc>
              <a:spcBef>
                <a:spcPts val="1000"/>
              </a:spcBef>
              <a:spcAft>
                <a:spcPts val="0"/>
              </a:spcAft>
              <a:buClr>
                <a:schemeClr val="dk1"/>
              </a:buClr>
              <a:buSzPts val="2400"/>
              <a:buChar char="•"/>
            </a:pPr>
            <a:r>
              <a:rPr lang="en-US" sz="2400"/>
              <a:t>Does participation in a test preparation course improve exam scores?</a:t>
            </a:r>
            <a:endParaRPr/>
          </a:p>
          <a:p>
            <a:pPr indent="-228600" lvl="0" marL="228600" rtl="0" algn="l">
              <a:lnSpc>
                <a:spcPct val="90000"/>
              </a:lnSpc>
              <a:spcBef>
                <a:spcPts val="1000"/>
              </a:spcBef>
              <a:spcAft>
                <a:spcPts val="0"/>
              </a:spcAft>
              <a:buClr>
                <a:schemeClr val="dk1"/>
              </a:buClr>
              <a:buSzPts val="2400"/>
              <a:buChar char="•"/>
            </a:pPr>
            <a:r>
              <a:rPr lang="en-US" sz="2400"/>
              <a:t>How do weekly study hours correlate with performance in Math, Reading, and Writing?</a:t>
            </a:r>
            <a:endParaRPr/>
          </a:p>
          <a:p>
            <a:pPr indent="-228600" lvl="0" marL="228600" rtl="0" algn="l">
              <a:lnSpc>
                <a:spcPct val="90000"/>
              </a:lnSpc>
              <a:spcBef>
                <a:spcPts val="1000"/>
              </a:spcBef>
              <a:spcAft>
                <a:spcPts val="0"/>
              </a:spcAft>
              <a:buClr>
                <a:schemeClr val="dk1"/>
              </a:buClr>
              <a:buSzPts val="2400"/>
              <a:buChar char="•"/>
            </a:pPr>
            <a:r>
              <a:rPr lang="en-US" sz="2400"/>
              <a:t>Are first-born children performing better academically compared to their siblings?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type="title"/>
          </p:nvPr>
        </p:nvSpPr>
        <p:spPr>
          <a:xfrm>
            <a:off x="720213" y="23528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Specific Questions:</a:t>
            </a:r>
            <a:endParaRPr/>
          </a:p>
        </p:txBody>
      </p:sp>
      <p:pic>
        <p:nvPicPr>
          <p:cNvPr id="142" name="Google Shape;142;p9"/>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43" name="Google Shape;143;p9"/>
          <p:cNvSpPr txBox="1"/>
          <p:nvPr>
            <p:ph idx="1" type="body"/>
          </p:nvPr>
        </p:nvSpPr>
        <p:spPr>
          <a:xfrm>
            <a:off x="1093839" y="1560846"/>
            <a:ext cx="10279627" cy="426968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2600"/>
              <a:t>What are the key factors influencing student exam performance?</a:t>
            </a:r>
            <a:endParaRPr/>
          </a:p>
          <a:p>
            <a:pPr indent="-228600" lvl="0" marL="228600" rtl="0" algn="l">
              <a:lnSpc>
                <a:spcPct val="90000"/>
              </a:lnSpc>
              <a:spcBef>
                <a:spcPts val="1000"/>
              </a:spcBef>
              <a:spcAft>
                <a:spcPts val="0"/>
              </a:spcAft>
              <a:buClr>
                <a:schemeClr val="dk1"/>
              </a:buClr>
              <a:buSzPct val="100000"/>
              <a:buChar char="•"/>
            </a:pPr>
            <a:r>
              <a:rPr lang="en-US" sz="2600"/>
              <a:t>How do family dynamics (parental marital status, number of siblings) affect academic outcomes?</a:t>
            </a:r>
            <a:endParaRPr/>
          </a:p>
          <a:p>
            <a:pPr indent="-228600" lvl="0" marL="228600" rtl="0" algn="l">
              <a:lnSpc>
                <a:spcPct val="90000"/>
              </a:lnSpc>
              <a:spcBef>
                <a:spcPts val="1000"/>
              </a:spcBef>
              <a:spcAft>
                <a:spcPts val="0"/>
              </a:spcAft>
              <a:buClr>
                <a:schemeClr val="dk1"/>
              </a:buClr>
              <a:buSzPct val="100000"/>
              <a:buChar char="•"/>
            </a:pPr>
            <a:r>
              <a:rPr lang="en-US" sz="2600"/>
              <a:t>Which subjects (Math, Reading, Writing) show the strongest performance trends?</a:t>
            </a:r>
            <a:endParaRPr/>
          </a:p>
          <a:p>
            <a:pPr indent="-228600" lvl="0" marL="228600" rtl="0" algn="l">
              <a:lnSpc>
                <a:spcPct val="90000"/>
              </a:lnSpc>
              <a:spcBef>
                <a:spcPts val="1000"/>
              </a:spcBef>
              <a:spcAft>
                <a:spcPts val="0"/>
              </a:spcAft>
              <a:buClr>
                <a:schemeClr val="dk1"/>
              </a:buClr>
              <a:buSzPct val="100000"/>
              <a:buChar char="•"/>
            </a:pPr>
            <a:r>
              <a:rPr lang="en-US" sz="2600"/>
              <a:t>How does the marital status of parents (married vs. divorced) influence academic performance?</a:t>
            </a:r>
            <a:endParaRPr/>
          </a:p>
          <a:p>
            <a:pPr indent="-228600" lvl="0" marL="228600" rtl="0" algn="l">
              <a:lnSpc>
                <a:spcPct val="90000"/>
              </a:lnSpc>
              <a:spcBef>
                <a:spcPts val="1000"/>
              </a:spcBef>
              <a:spcAft>
                <a:spcPts val="0"/>
              </a:spcAft>
              <a:buClr>
                <a:schemeClr val="dk1"/>
              </a:buClr>
              <a:buSzPct val="100000"/>
              <a:buChar char="•"/>
            </a:pPr>
            <a:r>
              <a:rPr lang="en-US" sz="2600"/>
              <a:t>Does the means of transportation to school (e.g., bus, car, walking) have any correlation with exam scores?</a:t>
            </a:r>
            <a:endParaRPr/>
          </a:p>
          <a:p>
            <a:pPr indent="-228600" lvl="0" marL="228600" rtl="0" algn="l">
              <a:lnSpc>
                <a:spcPct val="90000"/>
              </a:lnSpc>
              <a:spcBef>
                <a:spcPts val="1000"/>
              </a:spcBef>
              <a:spcAft>
                <a:spcPts val="0"/>
              </a:spcAft>
              <a:buClr>
                <a:schemeClr val="dk1"/>
              </a:buClr>
              <a:buSzPct val="100000"/>
              <a:buChar char="•"/>
            </a:pPr>
            <a:r>
              <a:rPr lang="en-US" sz="2600"/>
              <a:t>Are test preparation courses equally beneficial for students from all backgrounds?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Analysis:</a:t>
            </a:r>
            <a:endParaRPr/>
          </a:p>
        </p:txBody>
      </p:sp>
      <p:pic>
        <p:nvPicPr>
          <p:cNvPr id="149" name="Google Shape;149;p10"/>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50" name="Google Shape;150;p10"/>
          <p:cNvSpPr txBox="1"/>
          <p:nvPr>
            <p:ph idx="1" type="body"/>
          </p:nvPr>
        </p:nvSpPr>
        <p:spPr>
          <a:xfrm>
            <a:off x="1172497" y="1776463"/>
            <a:ext cx="10370574"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The analysis indicated that parental education has a significant impact on students' exam scores.</a:t>
            </a:r>
            <a:endParaRPr/>
          </a:p>
          <a:p>
            <a:pPr indent="-228600" lvl="0" marL="228600" rtl="0" algn="l">
              <a:lnSpc>
                <a:spcPct val="90000"/>
              </a:lnSpc>
              <a:spcBef>
                <a:spcPts val="1000"/>
              </a:spcBef>
              <a:spcAft>
                <a:spcPts val="0"/>
              </a:spcAft>
              <a:buClr>
                <a:schemeClr val="dk1"/>
              </a:buClr>
              <a:buSzPts val="2400"/>
              <a:buChar char="•"/>
            </a:pPr>
            <a:r>
              <a:rPr lang="en-US" sz="2400"/>
              <a:t>Gender differences were observed in Math scores, with female students performing better on average.</a:t>
            </a:r>
            <a:endParaRPr/>
          </a:p>
          <a:p>
            <a:pPr indent="-228600" lvl="0" marL="228600" rtl="0" algn="l">
              <a:lnSpc>
                <a:spcPct val="90000"/>
              </a:lnSpc>
              <a:spcBef>
                <a:spcPts val="1000"/>
              </a:spcBef>
              <a:spcAft>
                <a:spcPts val="0"/>
              </a:spcAft>
              <a:buClr>
                <a:schemeClr val="dk1"/>
              </a:buClr>
              <a:buSzPts val="2400"/>
              <a:buChar char="•"/>
            </a:pPr>
            <a:r>
              <a:rPr lang="en-US" sz="2400"/>
              <a:t>Weekly study hours positively correlated with higher scores in all subjects.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US" sz="6000"/>
              <a:t>Conclusion:</a:t>
            </a:r>
            <a:endParaRPr/>
          </a:p>
        </p:txBody>
      </p:sp>
      <p:pic>
        <p:nvPicPr>
          <p:cNvPr id="156" name="Google Shape;156;p11"/>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57" name="Google Shape;157;p11"/>
          <p:cNvSpPr txBox="1"/>
          <p:nvPr>
            <p:ph idx="1" type="body"/>
          </p:nvPr>
        </p:nvSpPr>
        <p:spPr>
          <a:xfrm>
            <a:off x="1140542" y="1825625"/>
            <a:ext cx="10213258"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The analysis revealed that female students tend to perform better in Reading and Writing, while male students tend to perform better in Math scores. There is a strong positive relationship between performance in Reading and Writing, indicating that students excelling in one tend to do well in the other.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411a018f52_0_2"/>
          <p:cNvPicPr preferRelativeResize="0"/>
          <p:nvPr/>
        </p:nvPicPr>
        <p:blipFill rotWithShape="1">
          <a:blip r:embed="rId3">
            <a:alphaModFix/>
          </a:blip>
          <a:srcRect b="0" l="0" r="0" t="0"/>
          <a:stretch/>
        </p:blipFill>
        <p:spPr>
          <a:xfrm>
            <a:off x="8219457" y="0"/>
            <a:ext cx="3972543" cy="2644877"/>
          </a:xfrm>
          <a:prstGeom prst="rect">
            <a:avLst/>
          </a:prstGeom>
          <a:noFill/>
          <a:ln>
            <a:noFill/>
          </a:ln>
        </p:spPr>
      </p:pic>
      <p:sp>
        <p:nvSpPr>
          <p:cNvPr id="163" name="Google Shape;163;g3411a018f52_0_2"/>
          <p:cNvSpPr txBox="1"/>
          <p:nvPr>
            <p:ph idx="1" type="body"/>
          </p:nvPr>
        </p:nvSpPr>
        <p:spPr>
          <a:xfrm>
            <a:off x="0" y="-25"/>
            <a:ext cx="12192000" cy="6858000"/>
          </a:xfrm>
          <a:prstGeom prst="rect">
            <a:avLst/>
          </a:prstGeom>
        </p:spPr>
        <p:txBody>
          <a:bodyPr anchorCtr="0" anchor="ctr" bIns="45700" lIns="91425" spcFirstLastPara="1" rIns="91425" wrap="square" tIns="45700">
            <a:normAutofit/>
          </a:bodyPr>
          <a:lstStyle/>
          <a:p>
            <a:pPr indent="0" lvl="0" marL="0" rtl="0" algn="ctr">
              <a:spcBef>
                <a:spcPts val="1000"/>
              </a:spcBef>
              <a:spcAft>
                <a:spcPts val="0"/>
              </a:spcAft>
              <a:buNone/>
            </a:pPr>
            <a:r>
              <a:rPr b="1" lang="en-US" sz="5500"/>
              <a:t>Thank You!</a:t>
            </a:r>
            <a:endParaRPr b="1" sz="55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2024-09-22T11:05:57Z</dcterms:created>
  <dc:creator>khushipainter410@gmail.com</dc:creator>
</cp:coreProperties>
</file>